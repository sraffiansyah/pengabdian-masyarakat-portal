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2" r:id="rId4"/>
    <p:sldId id="259" r:id="rId5"/>
    <p:sldId id="260" r:id="rId6"/>
    <p:sldId id="261" r:id="rId7"/>
    <p:sldId id="267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3741" autoAdjust="0"/>
  </p:normalViewPr>
  <p:slideViewPr>
    <p:cSldViewPr snapToGrid="0" snapToObjects="1">
      <p:cViewPr varScale="1">
        <p:scale>
          <a:sx n="82" d="100"/>
          <a:sy n="82" d="100"/>
        </p:scale>
        <p:origin x="6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5101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11480"/>
            <a:ext cx="3840480" cy="384048"/>
          </a:xfrm>
          <a:prstGeom prst="roundRect">
            <a:avLst>
              <a:gd name="adj" fmla="val 2381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1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332"/>
                </a:solidFill>
              </a:rPr>
              <a:t>LAPORAN AKHIR PENGABDIAN MASYARAKAT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Membangun Karakter Santri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Melalui Nilai-Nilai Islam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50292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87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2B788"/>
                </a:solidFill>
              </a:rPr>
              <a:t>Mitra: TPQ Darul Hikmah, Depok, Jawa Barat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7F4"/>
                </a:solidFill>
              </a:rPr>
              <a:t>1. Aditya Romadhoni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7F4"/>
                </a:solidFill>
              </a:rPr>
              <a:t>2. Syukron Raffiansyah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7F4"/>
                </a:solidFill>
              </a:rPr>
              <a:t>3. Ahmad Ridho Aryaguna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7F4"/>
                </a:solidFill>
              </a:rPr>
              <a:t>4. Sayyid Ja'far Shodiq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7F4"/>
                </a:solidFill>
              </a:rPr>
              <a:t>5. Yasmine Sheilana Syahida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7F4"/>
                </a:solidFill>
              </a:rPr>
              <a:t>6. Ridho Fakhar Septian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7F4"/>
                </a:solidFill>
              </a:rPr>
              <a:t>7. Lulu Cahya Pertiwi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1"/>
                </a:solidFill>
              </a:rPr>
              <a:t>Universitas Bina Sarana Informatika  |  April 2026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RINGKASAN KEGIATAN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</a:rPr>
              <a:t>Lokasi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920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1F"/>
                </a:solidFill>
              </a:rPr>
              <a:t>TPQ Darul Hikmah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E1F"/>
                </a:solidFill>
              </a:rPr>
              <a:t>Depok, Jawa Barat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97280"/>
            <a:ext cx="19202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</a:rPr>
              <a:t>Tanggal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554480"/>
            <a:ext cx="1920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1F"/>
                </a:solidFill>
              </a:rPr>
              <a:t>19 April 2026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E1F"/>
                </a:solidFill>
              </a:rPr>
              <a:t>09:00 WIB – Selesai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19202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</a:rPr>
              <a:t>Tim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1920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1F"/>
                </a:solidFill>
              </a:rPr>
              <a:t>7 Mahasiswa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E1F"/>
                </a:solidFill>
              </a:rPr>
              <a:t>Fak. Teknik &amp; Informatika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97280"/>
            <a:ext cx="19202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</a:rPr>
              <a:t>Anggaran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1554480"/>
            <a:ext cx="1920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1F"/>
                </a:solidFill>
              </a:rPr>
              <a:t>Rp 1.580.000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E1F"/>
                </a:solidFill>
              </a:rPr>
              <a:t>Dana Mandiri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16916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Pendidikan </a:t>
            </a:r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Islami Penting?</a:t>
            </a:r>
            <a:endParaRPr lang="en-US" sz="1200" dirty="0">
              <a:solidFill>
                <a:schemeClr val="bg1"/>
              </a:solidFill>
            </a:endParaRPr>
          </a:p>
          <a:p>
            <a:pPr algn="just"/>
            <a:endParaRPr lang="id-ID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era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globalisasi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teknologi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anak-anak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menghadapi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moral. Banyak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degradasi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moral—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kurangnya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rasa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hormat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pengaruh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budaya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 yang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negatif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Pendidikan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tidak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kecerdasan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kognitif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tetapi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juga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pembentukan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akhlak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kuat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 MITRA — TPQ Darul Hikmah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566160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 Pendidikan Al-Qur'an Darul Hikmah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Jl. H. Terin RT.006/03, Pangkalan Jati Baru, Cinere, Depok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generasi Qurani berlandaskan Ahlisunnah Wal Jama'ah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206240" cy="35661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704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1682496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1645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Mendidik dan mencetak generasi Qurani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139696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103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kemampuan membaca Al-Qur'an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596896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560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Al-Qur'an dengan tartil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54096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017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Hafal surat-surat pilihan dan doa harian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511296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3474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menulis Al-Qur'an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81728"/>
            <a:ext cx="228600" cy="228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772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dari Kampus UBSI Fatmawati ke TPQ: ± 3,1 km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PERMASALAHAN MITRA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2B788"/>
                </a:solidFill>
              </a:rPr>
              <a:t>TPQ Darul Hikmah — Depok, Jawa Barat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640080" cy="777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</a:rPr>
              <a:t>Belum Ada Program Karakter Terstruktur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7F4"/>
                </a:solidFill>
              </a:rPr>
              <a:t>Fokus masih pada aspek kognitif (</a:t>
            </a:r>
            <a:r>
              <a:rPr lang="en-US" sz="1050" dirty="0" err="1">
                <a:solidFill>
                  <a:srgbClr val="F0F7F4"/>
                </a:solidFill>
              </a:rPr>
              <a:t>membaca</a:t>
            </a:r>
            <a:r>
              <a:rPr lang="en-US" sz="1050" dirty="0">
                <a:solidFill>
                  <a:srgbClr val="F0F7F4"/>
                </a:solidFill>
              </a:rPr>
              <a:t> Al-Qur’an)</a:t>
            </a:r>
            <a:r>
              <a:rPr lang="id-ID" sz="1050" dirty="0">
                <a:solidFill>
                  <a:srgbClr val="F0F7F4"/>
                </a:solidFill>
              </a:rPr>
              <a:t>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82296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67712"/>
            <a:ext cx="640080" cy="777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6771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31343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</a:rPr>
              <a:t>Kesenjangan Teori &amp; Adab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63347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7F4"/>
                </a:solidFill>
              </a:rPr>
              <a:t>Santri hafal doa dan prosedur ibadah, namun kesulitan menjaga kedisiplinan &amp; kesantunan keseharian.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82296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63824"/>
            <a:ext cx="640080" cy="777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6382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209544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</a:rPr>
              <a:t>Keterbatasan Media Edukasi Interaktif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529584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7F4"/>
                </a:solidFill>
              </a:rPr>
              <a:t>Minimnya sarana kreatif membuat penyampaian nilai-nilai moral (kejujuran, tanggung jawab) terasa monoton.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82296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59936"/>
            <a:ext cx="640080" cy="777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5993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10565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</a:rPr>
              <a:t>Pengaruh Budaya Digital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4425696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7F4"/>
                </a:solidFill>
              </a:rPr>
              <a:t>Pola pergaulan bebas dan konten digital yang tidak tersaring menjadi ancaman nyata bagi karakter santri.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METODE PELAKSANAAN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56032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PERSIAPAN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• Observasi lapangan di TPQ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• Koordinasi &amp; sinkronisasi mitra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• Penyusunan materi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• Kelengkapan administrasi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56032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05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1005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PELAKSANAAN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• Fun Habituasi adab masuk-keluar majelis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• Peta Kebaikan Santri (refleksi diri)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• Literasi digital via video animasi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• Pembekalan Smart-Santri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2560320" cy="7772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005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1005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EVALUASI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92024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• Observasi langsung selama kegiatan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• Sesi tanya jawab &amp; diskusi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• Penyusunan </a:t>
            </a:r>
            <a:r>
              <a:rPr lang="en-US" sz="1050" dirty="0" err="1">
                <a:solidFill>
                  <a:srgbClr val="1B2E1F"/>
                </a:solidFill>
              </a:rPr>
              <a:t>laporan</a:t>
            </a:r>
            <a:r>
              <a:rPr lang="en-US" sz="1050" dirty="0">
                <a:solidFill>
                  <a:srgbClr val="1B2E1F"/>
                </a:solidFill>
              </a:rPr>
              <a:t> </a:t>
            </a:r>
            <a:r>
              <a:rPr lang="en-US" sz="1050" dirty="0" err="1">
                <a:solidFill>
                  <a:srgbClr val="1B2E1F"/>
                </a:solidFill>
              </a:rPr>
              <a:t>akhir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4709160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</a:rPr>
              <a:t>📅  Minggu, 19 April 2026  |  09:00 WIB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LUARAN YANG DICAPAI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0058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Jenis Luaran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1005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Indikator Capaian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2440" y="10058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548640"/>
          </a:xfrm>
          <a:prstGeom prst="rect">
            <a:avLst/>
          </a:prstGeom>
          <a:solidFill>
            <a:srgbClr val="F0F7F4"/>
          </a:solidFill>
          <a:ln w="12700">
            <a:solidFill>
              <a:srgbClr val="D0E8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7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417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Artikel di Media Massa Lokal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14173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Artikel kegiatan telah terbit di media massa lokal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1536192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5361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93392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9339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71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199339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Video Dokumentasi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19933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Video kegiatan PM di TPQ Darul Hikmah tersedia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92440" y="2112264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21122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569464"/>
            <a:ext cx="8412480" cy="548640"/>
          </a:xfrm>
          <a:prstGeom prst="rect">
            <a:avLst/>
          </a:prstGeom>
          <a:solidFill>
            <a:srgbClr val="F0F7F4"/>
          </a:solidFill>
          <a:ln w="12700">
            <a:solidFill>
              <a:srgbClr val="D0E8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5694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71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256946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Poster &amp; X-Banner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256946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Terpasang di TPQ Darul Hikmah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92440" y="2688336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26883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145536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455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71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314553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Peningkatan Pengetahuan Santri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314553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Santri memahami nilai-nilai Islam dalam pembentukan karakter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3264408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32644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721608"/>
            <a:ext cx="8412480" cy="548640"/>
          </a:xfrm>
          <a:prstGeom prst="rect">
            <a:avLst/>
          </a:prstGeom>
          <a:solidFill>
            <a:srgbClr val="F0F7F4"/>
          </a:solidFill>
          <a:ln w="12700">
            <a:solidFill>
              <a:srgbClr val="D0E8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21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71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" y="372160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Peningkatan Keterampilan Santri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31920" y="37216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Santri mampu mempraktikkan adab &amp; nilai karakter Islami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92440" y="3840480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38404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297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71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8680" y="4297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Laporan Akhir PM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931920" y="4297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E1F"/>
                </a:solidFill>
              </a:rPr>
              <a:t>Laporan disusun sebagai pertanggungjawaban program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092440" y="4416552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92440" y="4416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ANGGARAN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977640" y="143560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977640" y="186537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977640" y="229514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3977640" y="27249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3977640" y="315468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365760" y="11155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Anggaran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411480" y="1444752"/>
            <a:ext cx="4023360" cy="347472"/>
          </a:xfrm>
          <a:prstGeom prst="rect">
            <a:avLst/>
          </a:prstGeom>
          <a:solidFill>
            <a:srgbClr val="F1F8E9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32" name="Text 25"/>
          <p:cNvSpPr/>
          <p:nvPr/>
        </p:nvSpPr>
        <p:spPr>
          <a:xfrm>
            <a:off x="457200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 Narasumber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2971800" y="14950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150.000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11480" y="1874520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57200" y="1960735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Belanja Bahan (Spanduk)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3017520" y="192807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125.000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411480" y="2304288"/>
            <a:ext cx="4023360" cy="347472"/>
          </a:xfrm>
          <a:prstGeom prst="rect">
            <a:avLst/>
          </a:prstGeom>
          <a:solidFill>
            <a:srgbClr val="F1F8E9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68207" y="2356019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Konsumsi &amp; Snack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017520" y="23662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405.000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411480" y="2726605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68207" y="2789767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Souvenir Peserta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3028527" y="2789767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300.000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411480" y="3171952"/>
            <a:ext cx="4023360" cy="347472"/>
          </a:xfrm>
          <a:prstGeom prst="rect">
            <a:avLst/>
          </a:prstGeom>
          <a:solidFill>
            <a:srgbClr val="F1F8E9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44" name="Text 37"/>
          <p:cNvSpPr/>
          <p:nvPr/>
        </p:nvSpPr>
        <p:spPr>
          <a:xfrm>
            <a:off x="468207" y="32415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Mineral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3017520" y="322732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80.000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411480" y="3614420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68207" y="36687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Transportasi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3028527" y="3653367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520.000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411480" y="4050792"/>
            <a:ext cx="402336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0" name="Text 43"/>
          <p:cNvSpPr/>
          <p:nvPr/>
        </p:nvSpPr>
        <p:spPr>
          <a:xfrm>
            <a:off x="481754" y="40954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ANGGARAN</a:t>
            </a:r>
            <a:endParaRPr lang="en-US" sz="1100" dirty="0"/>
          </a:p>
        </p:txBody>
      </p:sp>
      <p:sp>
        <p:nvSpPr>
          <p:cNvPr id="51" name="Text 44"/>
          <p:cNvSpPr/>
          <p:nvPr/>
        </p:nvSpPr>
        <p:spPr>
          <a:xfrm>
            <a:off x="2708487" y="41036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 1.580.000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KESIMPULAN &amp; SARAN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840480"/>
          </a:xfrm>
          <a:prstGeom prst="rect">
            <a:avLst/>
          </a:prstGeom>
          <a:solidFill>
            <a:srgbClr val="F0F7F4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KESIMPULAN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AutoNum type="arabicPeriod"/>
            </a:pPr>
            <a:r>
              <a:rPr lang="en-US" sz="1100" dirty="0" err="1">
                <a:solidFill>
                  <a:srgbClr val="1B2E1F"/>
                </a:solidFill>
              </a:rPr>
              <a:t>Kegiatan</a:t>
            </a:r>
            <a:r>
              <a:rPr lang="en-US" sz="1100" dirty="0">
                <a:solidFill>
                  <a:srgbClr val="1B2E1F"/>
                </a:solidFill>
              </a:rPr>
              <a:t> PM berjalan sesuai tujuan yang </a:t>
            </a:r>
            <a:r>
              <a:rPr lang="en-US" sz="1100" dirty="0" err="1">
                <a:solidFill>
                  <a:srgbClr val="1B2E1F"/>
                </a:solidFill>
              </a:rPr>
              <a:t>direncanakan</a:t>
            </a:r>
            <a:endParaRPr lang="id-ID" sz="1100" dirty="0"/>
          </a:p>
          <a:p>
            <a:pPr marL="228600" indent="-228600">
              <a:spcAft>
                <a:spcPts val="400"/>
              </a:spcAft>
              <a:buAutoNum type="arabicPeriod"/>
            </a:pPr>
            <a:r>
              <a:rPr lang="en-US" sz="1100" dirty="0" err="1">
                <a:solidFill>
                  <a:srgbClr val="1B2E1F"/>
                </a:solidFill>
              </a:rPr>
              <a:t>Penyuluhan</a:t>
            </a:r>
            <a:r>
              <a:rPr lang="en-US" sz="1100" dirty="0">
                <a:solidFill>
                  <a:srgbClr val="1B2E1F"/>
                </a:solidFill>
              </a:rPr>
              <a:t> meningkatkan pengetahuan &amp; </a:t>
            </a:r>
            <a:r>
              <a:rPr lang="en-US" sz="1100" dirty="0" err="1">
                <a:solidFill>
                  <a:srgbClr val="1B2E1F"/>
                </a:solidFill>
              </a:rPr>
              <a:t>keterampilan</a:t>
            </a:r>
            <a:r>
              <a:rPr lang="en-US" sz="1100" dirty="0">
                <a:solidFill>
                  <a:srgbClr val="1B2E1F"/>
                </a:solidFill>
              </a:rPr>
              <a:t> </a:t>
            </a:r>
            <a:r>
              <a:rPr lang="en-US" sz="1100" dirty="0" err="1">
                <a:solidFill>
                  <a:srgbClr val="1B2E1F"/>
                </a:solidFill>
              </a:rPr>
              <a:t>santri</a:t>
            </a:r>
            <a:endParaRPr lang="id-ID" sz="1100" dirty="0"/>
          </a:p>
          <a:p>
            <a:pPr marL="228600" indent="-228600">
              <a:spcAft>
                <a:spcPts val="400"/>
              </a:spcAft>
              <a:buAutoNum type="arabicPeriod"/>
            </a:pPr>
            <a:r>
              <a:rPr lang="en-US" sz="1100" dirty="0">
                <a:solidFill>
                  <a:srgbClr val="1B2E1F"/>
                </a:solidFill>
              </a:rPr>
              <a:t>Semua tahap (persiapan, pelaksanaan, evaluasi) </a:t>
            </a:r>
            <a:r>
              <a:rPr lang="en-US" sz="1100" dirty="0" err="1">
                <a:solidFill>
                  <a:srgbClr val="1B2E1F"/>
                </a:solidFill>
              </a:rPr>
              <a:t>terlaksana</a:t>
            </a:r>
            <a:r>
              <a:rPr lang="en-US" sz="1100" dirty="0">
                <a:solidFill>
                  <a:srgbClr val="1B2E1F"/>
                </a:solidFill>
              </a:rPr>
              <a:t> lancer</a:t>
            </a:r>
            <a:endParaRPr lang="id-ID" sz="1100" dirty="0"/>
          </a:p>
          <a:p>
            <a:pPr marL="228600" indent="-228600">
              <a:spcAft>
                <a:spcPts val="400"/>
              </a:spcAft>
              <a:buAutoNum type="arabicPeriod"/>
            </a:pPr>
            <a:r>
              <a:rPr lang="en-US" sz="1100" dirty="0" err="1">
                <a:solidFill>
                  <a:srgbClr val="1B2E1F"/>
                </a:solidFill>
              </a:rPr>
              <a:t>Membuka</a:t>
            </a:r>
            <a:r>
              <a:rPr lang="en-US" sz="1100" dirty="0">
                <a:solidFill>
                  <a:srgbClr val="1B2E1F"/>
                </a:solidFill>
              </a:rPr>
              <a:t> peluang transformasi pembinaan karakter berkelanjutan di TPQ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3840480"/>
          </a:xfrm>
          <a:prstGeom prst="rect">
            <a:avLst/>
          </a:prstGeom>
          <a:solidFill>
            <a:srgbClr val="F0F7F4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💡  SARAN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AutoNum type="arabicPeriod"/>
            </a:pPr>
            <a:r>
              <a:rPr lang="en-US" sz="1100" dirty="0">
                <a:solidFill>
                  <a:srgbClr val="1B2E1F"/>
                </a:solidFill>
              </a:rPr>
              <a:t>TPQ disarankan menerapkan metode habituasi secara </a:t>
            </a:r>
            <a:r>
              <a:rPr lang="en-US" sz="1100" dirty="0" err="1">
                <a:solidFill>
                  <a:srgbClr val="1B2E1F"/>
                </a:solidFill>
              </a:rPr>
              <a:t>konsisten</a:t>
            </a:r>
            <a:r>
              <a:rPr lang="en-US" sz="1100" dirty="0">
                <a:solidFill>
                  <a:srgbClr val="1B2E1F"/>
                </a:solidFill>
              </a:rPr>
              <a:t> </a:t>
            </a:r>
            <a:endParaRPr lang="id-ID" sz="1100" dirty="0">
              <a:solidFill>
                <a:srgbClr val="1B2E1F"/>
              </a:solidFill>
            </a:endParaRPr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en-US" sz="1100" dirty="0" err="1">
                <a:solidFill>
                  <a:srgbClr val="1B2E1F"/>
                </a:solidFill>
              </a:rPr>
              <a:t>Kolaborasi</a:t>
            </a:r>
            <a:r>
              <a:rPr lang="en-US" sz="1100" dirty="0">
                <a:solidFill>
                  <a:srgbClr val="1B2E1F"/>
                </a:solidFill>
              </a:rPr>
              <a:t> dengan perguruan tinggi dapat dilanjutkan melalui pendampingan &amp; pembaruan materi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Jazākumullāhu Khayran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 Kasih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0" y="2423160"/>
            <a:ext cx="36576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B788"/>
                </a:solidFill>
              </a:rPr>
              <a:t>TPQ Darul Hikmah  |  Depok, Jawa Barat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2B788"/>
                </a:solidFill>
              </a:rPr>
              <a:t>Universitas Bina Sarana Informatika  |  April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347472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34747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4"/>
                </a:solidFill>
              </a:rPr>
              <a:t>🌐  https://pengabdian-masyarakat-kel2.netlify.app/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71"/>
                </a:solidFill>
              </a:rPr>
              <a:t>Kegiatan Pengabdian Kepada Masyarakat — Kelompok 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592</Words>
  <Application>Microsoft Office PowerPoint</Application>
  <PresentationFormat>On-screen Show (16:9)</PresentationFormat>
  <Paragraphs>148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Membangun Karakter Santri Melalui Nilai-Nilai Islam</dc:title>
  <dc:subject>PptxGenJS Presentation</dc:subject>
  <dc:creator>PptxGenJS</dc:creator>
  <cp:lastModifiedBy>yasmine.sheilana@gmail.com</cp:lastModifiedBy>
  <cp:revision>7</cp:revision>
  <dcterms:created xsi:type="dcterms:W3CDTF">2026-06-03T08:07:01Z</dcterms:created>
  <dcterms:modified xsi:type="dcterms:W3CDTF">2026-06-03T23:12:11Z</dcterms:modified>
</cp:coreProperties>
</file>