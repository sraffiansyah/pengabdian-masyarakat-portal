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2" r:id="rId4"/>
    <p:sldId id="259" r:id="rId5"/>
    <p:sldId id="260" r:id="rId6"/>
    <p:sldId id="261" r:id="rId7"/>
    <p:sldId id="267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 autoAdjust="0"/>
    <p:restoredTop sz="93741" autoAdjust="0"/>
  </p:normalViewPr>
  <p:slideViewPr>
    <p:cSldViewPr snapToGrid="0" snapToObjects="1">
      <p:cViewPr varScale="1">
        <p:scale>
          <a:sx n="154" d="100"/>
          <a:sy n="154" d="100"/>
        </p:scale>
        <p:origin x="144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5101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411480"/>
            <a:ext cx="3840480" cy="384048"/>
          </a:xfrm>
          <a:prstGeom prst="roundRect">
            <a:avLst>
              <a:gd name="adj" fmla="val 23810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B4332"/>
                </a:solidFill>
              </a:rPr>
              <a:t>LAPORAN AKHIR PENGABDIAN MASYARAKAT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Membangun Karakter Santri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Melalui Nilai-Nilai Islam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548640" y="2359152"/>
            <a:ext cx="5029200" cy="36576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871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2B788"/>
                </a:solidFill>
              </a:rPr>
              <a:t>Mitra: TPQ Darul Hikmah, Depok, Jawa Barat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1. Aditya Romadhoni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2. Syukron Raffiansyah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3. Ahmad Ridho Aryaguna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4. Sayyid Ja'far Shodiq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92608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5. Yasmine Sheilana Syahida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6. Ridho Fakhar Septian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7. Lulu Cahya Pertiwi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8F71"/>
                </a:solidFill>
              </a:rPr>
              <a:t>Universitas Bina Sarana Informatika  |  April 2026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RINGKASAN KEGIATAN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192024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6A4F"/>
                </a:solidFill>
              </a:rPr>
              <a:t>Lokasi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1920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TPQ Darul Hikmah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Depok, Jawa Barat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09728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0" y="1097280"/>
            <a:ext cx="192024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6A4F"/>
                </a:solidFill>
              </a:rPr>
              <a:t>Tanggal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554480"/>
            <a:ext cx="1920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19 April 2026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09:00 WIB – Selesai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09728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97280"/>
            <a:ext cx="192024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6A4F"/>
                </a:solidFill>
              </a:rPr>
              <a:t>Tim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1554480"/>
            <a:ext cx="1920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7 Mahasiswa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Fak. Teknik &amp; Informatika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66560" y="109728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66560" y="1097280"/>
            <a:ext cx="192024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11887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6A4F"/>
                </a:solidFill>
              </a:rPr>
              <a:t>Anggaran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1554480"/>
            <a:ext cx="1920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Rp 1.580.000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2E1F"/>
                </a:solidFill>
              </a:rPr>
              <a:t>Dana Mandiri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169164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Kita 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memilih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</a:t>
            </a: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200" dirty="0">
              <a:solidFill>
                <a:schemeClr val="bg1"/>
              </a:solidFill>
            </a:endParaRPr>
          </a:p>
          <a:p>
            <a:pPr algn="just"/>
            <a:endParaRPr lang="id-ID" sz="12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just"/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Di era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globalisasi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teknologi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informasi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anak-anak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menghadapi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banyak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tantangan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moral. Banyak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degradasi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moral—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kurangnya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rasa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hormat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pengaruh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budaya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digital yang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Pendidikan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karakter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harus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tidak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kecerdasan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kognitif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tetapi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juga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pembentukan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akhlak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yang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kuat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chemeClr val="bg1"/>
              </a:solidFill>
            </a:endParaRPr>
          </a:p>
          <a:p>
            <a:pPr marL="0" indent="0" algn="just">
              <a:buNone/>
            </a:pP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 MITRA — TPQ Darul Hikmah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4114800" cy="3566160"/>
          </a:xfrm>
          <a:prstGeom prst="rect">
            <a:avLst/>
          </a:prstGeom>
          <a:solidFill>
            <a:srgbClr val="F1F8E9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44475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 Pendidikan Al-Qur'an Darul Hikmah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Alamat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505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Jl. H. Terin RT.006/03, Pangkalan Jati Baru, Cinere, Depok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Menyiapkan generasi Qurani berlandaskan Ahlisunnah Wal Jama'ah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4206240" cy="35661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704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9A8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754880" y="1682496"/>
            <a:ext cx="201168" cy="201168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47488" y="16459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Mendidik dan mencetak generasi Qurani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139696"/>
            <a:ext cx="201168" cy="201168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2103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Meningkatkan kemampuan membaca Al-Qur'an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596896"/>
            <a:ext cx="201168" cy="201168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2560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Al-Qur'an dengan tartil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054096"/>
            <a:ext cx="201168" cy="201168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30175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Hafal surat-surat pilihan dan doa harian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511296"/>
            <a:ext cx="201168" cy="201168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3474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menulis Al-Qur'an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solidFill>
            <a:srgbClr val="FFF9C4"/>
          </a:solidFill>
          <a:ln w="12700">
            <a:solidFill>
              <a:srgbClr val="F9A825"/>
            </a:solidFill>
            <a:prstDash val="solid"/>
          </a:ln>
        </p:spPr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681728"/>
            <a:ext cx="228600" cy="2286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77240" y="46817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Jarak dari Kampus UBSI Fatmawati ke TPQ: ± 3,1 km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PERMASALAHAN MITRA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365760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2B788"/>
                </a:solidFill>
              </a:rPr>
              <a:t>TPQ Darul Hikmah — Depok, Jawa Barat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64008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4332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</a:rPr>
              <a:t>Belum Ada Program Karakter Terstruktur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1737360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Fokus masih pada aspek kognitif (</a:t>
            </a:r>
            <a:r>
              <a:rPr lang="en-US" sz="1050" dirty="0" err="1">
                <a:solidFill>
                  <a:srgbClr val="F0F7F4"/>
                </a:solidFill>
              </a:rPr>
              <a:t>membaca</a:t>
            </a:r>
            <a:r>
              <a:rPr lang="en-US" sz="1050" dirty="0">
                <a:solidFill>
                  <a:srgbClr val="F0F7F4"/>
                </a:solidFill>
              </a:rPr>
              <a:t> Al-Qur’an)</a:t>
            </a:r>
            <a:r>
              <a:rPr lang="id-ID" sz="1050" dirty="0">
                <a:solidFill>
                  <a:srgbClr val="F0F7F4"/>
                </a:solidFill>
              </a:rPr>
              <a:t>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267712"/>
            <a:ext cx="8229600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267712"/>
            <a:ext cx="64008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67712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4332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313432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</a:rPr>
              <a:t>Kesenjangan Teori &amp; Adab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2633472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Santri hafal doa dan prosedur ibadah, namun kesulitan menjaga kedisiplinan &amp; kesantunan keseharian.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163824"/>
            <a:ext cx="8229600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163824"/>
            <a:ext cx="64008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163824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4332"/>
                </a:solidFill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3209544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</a:rPr>
              <a:t>Keterbatasan Media Edukasi Interaktif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529584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Minimnya sarana kreatif membuat penyampaian nilai-nilai moral (kejujuran, tanggung jawab) terasa monoton.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59936"/>
            <a:ext cx="8229600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59936"/>
            <a:ext cx="640080" cy="77724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59936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4332"/>
                </a:solidFill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8720" y="4105656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</a:rPr>
              <a:t>Pengaruh Budaya Digital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88720" y="4425696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0F7F4"/>
                </a:solidFill>
              </a:rPr>
              <a:t>Pola pergaulan bebas dan konten digital yang tidak tersaring menjadi ancaman nyata bagi karakter santri.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METODE PELAKSANAAN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5603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560320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017"/>
                </a:solidFill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10058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PERSIAPAN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2331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Observasi lapangan di TPQ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Koordinasi &amp; sinkronisasi mitra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Penyusunan materi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Kelengkapan administrasi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5603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05840"/>
            <a:ext cx="2560320" cy="77724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005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017"/>
                </a:solidFill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40480" y="10058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PELAKSANAAN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37560" y="1920240"/>
            <a:ext cx="2331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Fun Habituasi adab masuk-keluar majelis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Peta Kebaikan Santri (refleksi diri)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Literasi digital via video animasi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Pembekalan Smart-Santri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005840"/>
            <a:ext cx="25603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1005840"/>
            <a:ext cx="2560320" cy="777240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005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017"/>
                </a:solidFill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75120" y="10058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EVALUASI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1920240"/>
            <a:ext cx="2331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Observasi langsung selama kegiatan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Sesi tanya jawab &amp; diskusi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• Penyusunan </a:t>
            </a:r>
            <a:r>
              <a:rPr lang="en-US" sz="1050" dirty="0" err="1">
                <a:solidFill>
                  <a:srgbClr val="1B2E1F"/>
                </a:solidFill>
              </a:rPr>
              <a:t>laporan</a:t>
            </a:r>
            <a:r>
              <a:rPr lang="en-US" sz="1050" dirty="0">
                <a:solidFill>
                  <a:srgbClr val="1B2E1F"/>
                </a:solidFill>
              </a:rPr>
              <a:t> </a:t>
            </a:r>
            <a:r>
              <a:rPr lang="en-US" sz="1050" dirty="0" err="1">
                <a:solidFill>
                  <a:srgbClr val="1B2E1F"/>
                </a:solidFill>
              </a:rPr>
              <a:t>akhir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4709160"/>
            <a:ext cx="2743200" cy="320040"/>
          </a:xfrm>
          <a:prstGeom prst="roundRect">
            <a:avLst>
              <a:gd name="adj" fmla="val 22857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4332"/>
                </a:solidFill>
              </a:rPr>
              <a:t>📅  Minggu, 19 April 2026  |  09:00 WIB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LUARAN YANG DICAPAI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38404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No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100584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Jenis Luaran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Indikator Capaian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92440" y="1005840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Status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0F7F4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4173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F7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4173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</a:rPr>
              <a:t>Artikel di Media Massa Lokal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4173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Artikel kegiatan telah terbit di media massa lokal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2440" y="153619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153619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93392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9933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F71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" y="19933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</a:rPr>
              <a:t>Video Dokumentasi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0" y="199339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Video kegiatan PM di TPQ Darul Hikmah tersedia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92440" y="2112264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92440" y="21122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569464"/>
            <a:ext cx="8412480" cy="548640"/>
          </a:xfrm>
          <a:prstGeom prst="rect">
            <a:avLst/>
          </a:prstGeom>
          <a:solidFill>
            <a:srgbClr val="F0F7F4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56946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F7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68680" y="256946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</a:rPr>
              <a:t>Poster &amp; X-Banner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31920" y="2569464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Terpasang di TPQ Darul Hikmah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92440" y="2688336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92440" y="268833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145536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1455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F71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8680" y="314553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</a:rPr>
              <a:t>Peningkatan Pengetahuan Santri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931920" y="3145536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Santri memahami nilai-nilai Islam dalam pembentukan karakter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64408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92440" y="32644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721608"/>
            <a:ext cx="8412480" cy="548640"/>
          </a:xfrm>
          <a:prstGeom prst="rect">
            <a:avLst/>
          </a:prstGeom>
          <a:solidFill>
            <a:srgbClr val="F0F7F4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7216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F7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8680" y="372160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</a:rPr>
              <a:t>Peningkatan Keterampilan Santri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931920" y="3721608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Santri mampu mempraktikkan adab &amp; nilai karakter Islami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92440" y="3840480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92440" y="38404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65760" y="4297680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8D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2976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F71"/>
                </a:solidFill>
              </a:rPr>
              <a:t>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68680" y="42976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</a:rPr>
              <a:t>Laporan Akhir PM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931920" y="42976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E1F"/>
                </a:solidFill>
              </a:rPr>
              <a:t>Laporan disusun sebagai pertanggungjawaban program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2440" y="441655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92440" y="441655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✓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ANGGARAN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977640" y="1435608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3977640" y="1865376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3977640" y="2295144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3977640" y="2724912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3977640" y="3154680"/>
            <a:ext cx="365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365760" y="111556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Rincian Anggaran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411480" y="1444752"/>
            <a:ext cx="4023360" cy="347472"/>
          </a:xfrm>
          <a:prstGeom prst="rect">
            <a:avLst/>
          </a:prstGeom>
          <a:solidFill>
            <a:srgbClr val="F1F8E9"/>
          </a:solidFill>
          <a:ln w="1270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ID" dirty="0"/>
          </a:p>
        </p:txBody>
      </p:sp>
      <p:sp>
        <p:nvSpPr>
          <p:cNvPr id="32" name="Text 25"/>
          <p:cNvSpPr/>
          <p:nvPr/>
        </p:nvSpPr>
        <p:spPr>
          <a:xfrm>
            <a:off x="457200" y="14813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 Narasumber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971800" y="14950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150.000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411480" y="1874520"/>
            <a:ext cx="4023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FF1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457200" y="1960735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Belanja Bahan (Spanduk)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3017520" y="192807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125.000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411480" y="2304288"/>
            <a:ext cx="4023360" cy="347472"/>
          </a:xfrm>
          <a:prstGeom prst="rect">
            <a:avLst/>
          </a:prstGeom>
          <a:solidFill>
            <a:srgbClr val="F1F8E9"/>
          </a:solidFill>
          <a:ln w="12700">
            <a:solidFill>
              <a:srgbClr val="ECEFF1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68207" y="2356019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Konsumsi &amp; Snack</a:t>
            </a:r>
            <a:endParaRPr lang="en-US" sz="1000" dirty="0"/>
          </a:p>
        </p:txBody>
      </p:sp>
      <p:sp>
        <p:nvSpPr>
          <p:cNvPr id="39" name="Text 32"/>
          <p:cNvSpPr/>
          <p:nvPr/>
        </p:nvSpPr>
        <p:spPr>
          <a:xfrm>
            <a:off x="3017520" y="236626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405.000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411480" y="2726605"/>
            <a:ext cx="4023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FF1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468207" y="2789767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 Peserta</a:t>
            </a:r>
            <a:endParaRPr lang="en-US" sz="1000" dirty="0"/>
          </a:p>
        </p:txBody>
      </p:sp>
      <p:sp>
        <p:nvSpPr>
          <p:cNvPr id="42" name="Text 35"/>
          <p:cNvSpPr/>
          <p:nvPr/>
        </p:nvSpPr>
        <p:spPr>
          <a:xfrm>
            <a:off x="3028527" y="2789767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300.000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411480" y="3171952"/>
            <a:ext cx="4023360" cy="347472"/>
          </a:xfrm>
          <a:prstGeom prst="rect">
            <a:avLst/>
          </a:prstGeom>
          <a:solidFill>
            <a:srgbClr val="F1F8E9"/>
          </a:solidFill>
          <a:ln w="12700">
            <a:solidFill>
              <a:srgbClr val="ECEFF1"/>
            </a:solidFill>
            <a:prstDash val="solid"/>
          </a:ln>
        </p:spPr>
        <p:txBody>
          <a:bodyPr/>
          <a:lstStyle/>
          <a:p>
            <a:endParaRPr lang="en-ID" dirty="0"/>
          </a:p>
        </p:txBody>
      </p:sp>
      <p:sp>
        <p:nvSpPr>
          <p:cNvPr id="44" name="Text 37"/>
          <p:cNvSpPr/>
          <p:nvPr/>
        </p:nvSpPr>
        <p:spPr>
          <a:xfrm>
            <a:off x="468207" y="32415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Mineral</a:t>
            </a:r>
            <a:endParaRPr lang="en-US" sz="1000" dirty="0"/>
          </a:p>
        </p:txBody>
      </p:sp>
      <p:sp>
        <p:nvSpPr>
          <p:cNvPr id="45" name="Text 38"/>
          <p:cNvSpPr/>
          <p:nvPr/>
        </p:nvSpPr>
        <p:spPr>
          <a:xfrm>
            <a:off x="3017520" y="322732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80.000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411480" y="3614420"/>
            <a:ext cx="4023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FF1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468207" y="36687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Transportasi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3028527" y="3653367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520.000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11480" y="4050792"/>
            <a:ext cx="4023360" cy="47548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50" name="Text 43"/>
          <p:cNvSpPr/>
          <p:nvPr/>
        </p:nvSpPr>
        <p:spPr>
          <a:xfrm>
            <a:off x="481754" y="40954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ANGGARAN</a:t>
            </a:r>
            <a:endParaRPr lang="en-US" sz="1100" dirty="0"/>
          </a:p>
        </p:txBody>
      </p:sp>
      <p:sp>
        <p:nvSpPr>
          <p:cNvPr id="51" name="Text 44"/>
          <p:cNvSpPr/>
          <p:nvPr/>
        </p:nvSpPr>
        <p:spPr>
          <a:xfrm>
            <a:off x="2708487" y="410362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9A8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 1.580.000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KESIMPULAN &amp; SARAN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840480"/>
          </a:xfrm>
          <a:prstGeom prst="rect">
            <a:avLst/>
          </a:prstGeom>
          <a:solidFill>
            <a:srgbClr val="F0F7F4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411480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📋  KESIMPULAN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400"/>
              </a:spcAft>
              <a:buAutoNum type="arabicPeriod"/>
            </a:pPr>
            <a:r>
              <a:rPr lang="en-US" sz="1100" dirty="0" err="1">
                <a:solidFill>
                  <a:srgbClr val="1B2E1F"/>
                </a:solidFill>
              </a:rPr>
              <a:t>Kegiatan</a:t>
            </a:r>
            <a:r>
              <a:rPr lang="en-US" sz="1100" dirty="0">
                <a:solidFill>
                  <a:srgbClr val="1B2E1F"/>
                </a:solidFill>
              </a:rPr>
              <a:t> PM berjalan sesuai tujuan yang </a:t>
            </a:r>
            <a:r>
              <a:rPr lang="en-US" sz="1100" dirty="0" err="1">
                <a:solidFill>
                  <a:srgbClr val="1B2E1F"/>
                </a:solidFill>
              </a:rPr>
              <a:t>direncanakan</a:t>
            </a:r>
            <a:endParaRPr lang="id-ID" sz="1100" dirty="0"/>
          </a:p>
          <a:p>
            <a:pPr marL="228600" indent="-228600">
              <a:spcAft>
                <a:spcPts val="400"/>
              </a:spcAft>
              <a:buAutoNum type="arabicPeriod"/>
            </a:pPr>
            <a:r>
              <a:rPr lang="en-US" sz="1100" dirty="0" err="1">
                <a:solidFill>
                  <a:srgbClr val="1B2E1F"/>
                </a:solidFill>
              </a:rPr>
              <a:t>Penyuluhan</a:t>
            </a:r>
            <a:r>
              <a:rPr lang="en-US" sz="1100" dirty="0">
                <a:solidFill>
                  <a:srgbClr val="1B2E1F"/>
                </a:solidFill>
              </a:rPr>
              <a:t> meningkatkan pengetahuan &amp; </a:t>
            </a:r>
            <a:r>
              <a:rPr lang="en-US" sz="1100" dirty="0" err="1">
                <a:solidFill>
                  <a:srgbClr val="1B2E1F"/>
                </a:solidFill>
              </a:rPr>
              <a:t>keterampilan</a:t>
            </a:r>
            <a:r>
              <a:rPr lang="en-US" sz="1100" dirty="0">
                <a:solidFill>
                  <a:srgbClr val="1B2E1F"/>
                </a:solidFill>
              </a:rPr>
              <a:t> </a:t>
            </a:r>
            <a:r>
              <a:rPr lang="en-US" sz="1100" dirty="0" err="1">
                <a:solidFill>
                  <a:srgbClr val="1B2E1F"/>
                </a:solidFill>
              </a:rPr>
              <a:t>santri</a:t>
            </a:r>
            <a:endParaRPr lang="id-ID" sz="1100" dirty="0"/>
          </a:p>
          <a:p>
            <a:pPr marL="228600" indent="-228600">
              <a:spcAft>
                <a:spcPts val="400"/>
              </a:spcAft>
              <a:buAutoNum type="arabicPeriod"/>
            </a:pPr>
            <a:r>
              <a:rPr lang="en-US" sz="1100" dirty="0">
                <a:solidFill>
                  <a:srgbClr val="1B2E1F"/>
                </a:solidFill>
              </a:rPr>
              <a:t>Semua tahap (persiapan, pelaksanaan, evaluasi) </a:t>
            </a:r>
            <a:r>
              <a:rPr lang="en-US" sz="1100" dirty="0" err="1">
                <a:solidFill>
                  <a:srgbClr val="1B2E1F"/>
                </a:solidFill>
              </a:rPr>
              <a:t>terlaksana</a:t>
            </a:r>
            <a:r>
              <a:rPr lang="en-US" sz="1100" dirty="0">
                <a:solidFill>
                  <a:srgbClr val="1B2E1F"/>
                </a:solidFill>
              </a:rPr>
              <a:t> lancer</a:t>
            </a:r>
            <a:endParaRPr lang="id-ID" sz="1100" dirty="0"/>
          </a:p>
          <a:p>
            <a:pPr marL="228600" indent="-228600">
              <a:spcAft>
                <a:spcPts val="400"/>
              </a:spcAft>
              <a:buAutoNum type="arabicPeriod"/>
            </a:pPr>
            <a:r>
              <a:rPr lang="en-US" sz="1100" dirty="0" err="1">
                <a:solidFill>
                  <a:srgbClr val="1B2E1F"/>
                </a:solidFill>
              </a:rPr>
              <a:t>Membuka</a:t>
            </a:r>
            <a:r>
              <a:rPr lang="en-US" sz="1100" dirty="0">
                <a:solidFill>
                  <a:srgbClr val="1B2E1F"/>
                </a:solidFill>
              </a:rPr>
              <a:t> peluang transformasi pembinaan karakter berkelanjutan di TPQ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023360" cy="3840480"/>
          </a:xfrm>
          <a:prstGeom prst="rect">
            <a:avLst/>
          </a:prstGeom>
          <a:solidFill>
            <a:srgbClr val="F0F7F4"/>
          </a:solidFill>
          <a:ln w="12700">
            <a:solidFill>
              <a:srgbClr val="C8E6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0058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</a:rPr>
              <a:t>💡  SARAN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7490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600"/>
              </a:spcAft>
              <a:buAutoNum type="arabicPeriod"/>
            </a:pPr>
            <a:r>
              <a:rPr lang="en-US" sz="1100" dirty="0">
                <a:solidFill>
                  <a:srgbClr val="1B2E1F"/>
                </a:solidFill>
              </a:rPr>
              <a:t>TPQ disarankan menerapkan metode habituasi secara </a:t>
            </a:r>
            <a:r>
              <a:rPr lang="en-US" sz="1100" dirty="0" err="1">
                <a:solidFill>
                  <a:srgbClr val="1B2E1F"/>
                </a:solidFill>
              </a:rPr>
              <a:t>konsisten</a:t>
            </a:r>
            <a:r>
              <a:rPr lang="en-US" sz="1100" dirty="0">
                <a:solidFill>
                  <a:srgbClr val="1B2E1F"/>
                </a:solidFill>
              </a:rPr>
              <a:t> </a:t>
            </a:r>
            <a:endParaRPr lang="id-ID" sz="1100" dirty="0">
              <a:solidFill>
                <a:srgbClr val="1B2E1F"/>
              </a:solidFill>
            </a:endParaRPr>
          </a:p>
          <a:p>
            <a:pPr marL="228600" indent="-228600">
              <a:spcAft>
                <a:spcPts val="600"/>
              </a:spcAft>
              <a:buAutoNum type="arabicPeriod"/>
            </a:pPr>
            <a:r>
              <a:rPr lang="en-US" sz="1100" dirty="0" err="1">
                <a:solidFill>
                  <a:srgbClr val="1B2E1F"/>
                </a:solidFill>
              </a:rPr>
              <a:t>Kolaborasi</a:t>
            </a:r>
            <a:r>
              <a:rPr lang="en-US" sz="1100" dirty="0">
                <a:solidFill>
                  <a:srgbClr val="1B2E1F"/>
                </a:solidFill>
              </a:rPr>
              <a:t> dengan perguruan tinggi dapat dilanjutkan melalui pendampingan &amp; pembaruan materi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Jazākumullāhu Khayran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Terima Kasih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0" y="2423160"/>
            <a:ext cx="3657600" cy="36576"/>
          </a:xfrm>
          <a:prstGeom prst="rect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06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2B788"/>
                </a:solidFill>
              </a:rPr>
              <a:t>TPQ Darul Hikmah  |  Depok, Jawa Barat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52B788"/>
                </a:solidFill>
              </a:rPr>
              <a:t>Universitas Bina Sarana Informatika  |  April 2026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68880" y="3474720"/>
            <a:ext cx="4206240" cy="502920"/>
          </a:xfrm>
          <a:prstGeom prst="roundRect">
            <a:avLst>
              <a:gd name="adj" fmla="val 18182"/>
            </a:avLst>
          </a:prstGeom>
          <a:solidFill>
            <a:srgbClr val="2D6A4F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34747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0F7F4"/>
                </a:solidFill>
              </a:rPr>
              <a:t>🌐  https://pengabdian-masyarakat-kel2.netlify.app/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F71"/>
                </a:solidFill>
              </a:rPr>
              <a:t>Kegiatan Pengabdian Kepada Masyarakat — Kelompok 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593</Words>
  <Application>Microsoft Office PowerPoint</Application>
  <PresentationFormat>On-screen Show (16:9)</PresentationFormat>
  <Paragraphs>148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Membangun Karakter Santri Melalui Nilai-Nilai Islam</dc:title>
  <dc:subject>PptxGenJS Presentation</dc:subject>
  <dc:creator>PptxGenJS</dc:creator>
  <cp:lastModifiedBy>Syukron Raffiansyah</cp:lastModifiedBy>
  <cp:revision>8</cp:revision>
  <dcterms:created xsi:type="dcterms:W3CDTF">2026-06-03T08:07:01Z</dcterms:created>
  <dcterms:modified xsi:type="dcterms:W3CDTF">2026-06-04T01:01:27Z</dcterms:modified>
</cp:coreProperties>
</file>